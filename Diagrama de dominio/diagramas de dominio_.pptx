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30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933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1306704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2353826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21E0E82-8882-4023-A3FF-85D0B4BE3B62}" type="datetimeFigureOut">
              <a:rPr lang="es-CO" smtClean="0"/>
              <a:t>4/11/2025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1293390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21E0E82-8882-4023-A3FF-85D0B4BE3B62}" type="datetimeFigureOut">
              <a:rPr lang="es-CO" smtClean="0"/>
              <a:t>4/11/2025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571599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21E0E82-8882-4023-A3FF-85D0B4BE3B62}" type="datetimeFigureOut">
              <a:rPr lang="es-CO" smtClean="0"/>
              <a:t>4/11/2025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399032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1E0E82-8882-4023-A3FF-85D0B4BE3B62}" type="datetimeFigureOut">
              <a:rPr lang="es-CO" smtClean="0"/>
              <a:t>4/11/2025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4040853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21E0E82-8882-4023-A3FF-85D0B4BE3B62}" type="datetimeFigureOut">
              <a:rPr lang="es-CO" smtClean="0"/>
              <a:t>4/11/2025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2464847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21E0E82-8882-4023-A3FF-85D0B4BE3B62}" type="datetimeFigureOut">
              <a:rPr lang="es-CO" smtClean="0"/>
              <a:t>4/11/2025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1584090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21E0E82-8882-4023-A3FF-85D0B4BE3B62}" type="datetimeFigureOut">
              <a:rPr lang="es-CO" smtClean="0"/>
              <a:t>4/11/2025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216193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2613087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567465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2438128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37270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347945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2373708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21E0E82-8882-4023-A3FF-85D0B4BE3B62}" type="datetimeFigureOut">
              <a:rPr lang="es-CO" smtClean="0"/>
              <a:t>4/11/2025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1488A7C-7D04-44C6-BD81-946DCB98ECAD}" type="slidenum">
              <a:rPr lang="es-CO" smtClean="0"/>
              <a:t>‹Nº›</a:t>
            </a:fld>
            <a:endParaRPr lang="es-CO"/>
          </a:p>
        </p:txBody>
      </p:sp>
    </p:spTree>
    <p:extLst>
      <p:ext uri="{BB962C8B-B14F-4D97-AF65-F5344CB8AC3E}">
        <p14:creationId xmlns:p14="http://schemas.microsoft.com/office/powerpoint/2010/main" val="1039664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21E0E82-8882-4023-A3FF-85D0B4BE3B62}" type="datetimeFigureOut">
              <a:rPr lang="es-CO" smtClean="0"/>
              <a:t>4/11/2025</a:t>
            </a:fld>
            <a:endParaRPr lang="es-CO"/>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s-CO"/>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41488A7C-7D04-44C6-BD81-946DCB98ECAD}" type="slidenum">
              <a:rPr lang="es-CO" smtClean="0"/>
              <a:t>‹Nº›</a:t>
            </a:fld>
            <a:endParaRPr lang="es-CO"/>
          </a:p>
        </p:txBody>
      </p:sp>
    </p:spTree>
    <p:extLst>
      <p:ext uri="{BB962C8B-B14F-4D97-AF65-F5344CB8AC3E}">
        <p14:creationId xmlns:p14="http://schemas.microsoft.com/office/powerpoint/2010/main" val="2088814372"/>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F68792-6017-7F3A-3D77-895D5CE07AC2}"/>
              </a:ext>
            </a:extLst>
          </p:cNvPr>
          <p:cNvSpPr>
            <a:spLocks noGrp="1"/>
          </p:cNvSpPr>
          <p:nvPr>
            <p:ph type="ctrTitle"/>
          </p:nvPr>
        </p:nvSpPr>
        <p:spPr/>
        <p:txBody>
          <a:bodyPr>
            <a:normAutofit fontScale="90000"/>
          </a:bodyPr>
          <a:lstStyle/>
          <a:p>
            <a:r>
              <a:rPr lang="es-CO" dirty="0">
                <a:latin typeface="Arial" panose="020B0604020202020204" pitchFamily="34" charset="0"/>
                <a:cs typeface="Arial" panose="020B0604020202020204" pitchFamily="34" charset="0"/>
              </a:rPr>
              <a:t>Diagrama de Dominio — Sistema de Monitoreo de Consumo Eléctrico</a:t>
            </a:r>
          </a:p>
        </p:txBody>
      </p:sp>
      <p:sp>
        <p:nvSpPr>
          <p:cNvPr id="3" name="Subtítulo 2">
            <a:extLst>
              <a:ext uri="{FF2B5EF4-FFF2-40B4-BE49-F238E27FC236}">
                <a16:creationId xmlns:a16="http://schemas.microsoft.com/office/drawing/2014/main" id="{9F6AE093-EDDC-8581-0736-BB3238CFC1A2}"/>
              </a:ext>
            </a:extLst>
          </p:cNvPr>
          <p:cNvSpPr>
            <a:spLocks noGrp="1"/>
          </p:cNvSpPr>
          <p:nvPr>
            <p:ph type="subTitle" idx="1"/>
          </p:nvPr>
        </p:nvSpPr>
        <p:spPr/>
        <p:txBody>
          <a:bodyPr>
            <a:normAutofit/>
          </a:bodyPr>
          <a:lstStyle/>
          <a:p>
            <a:r>
              <a:rPr lang="es-MX" dirty="0">
                <a:solidFill>
                  <a:schemeClr val="bg1"/>
                </a:solidFill>
                <a:latin typeface="Arial" panose="020B0604020202020204" pitchFamily="34" charset="0"/>
                <a:cs typeface="Arial" panose="020B0604020202020204" pitchFamily="34" charset="0"/>
              </a:rPr>
              <a:t>Integrantes: </a:t>
            </a:r>
          </a:p>
          <a:p>
            <a:r>
              <a:rPr lang="es-MX" dirty="0">
                <a:solidFill>
                  <a:schemeClr val="bg1"/>
                </a:solidFill>
                <a:latin typeface="Arial" panose="020B0604020202020204" pitchFamily="34" charset="0"/>
                <a:cs typeface="Arial" panose="020B0604020202020204" pitchFamily="34" charset="0"/>
              </a:rPr>
              <a:t>Miguel Angel Garcia Artunduaga</a:t>
            </a:r>
            <a:br>
              <a:rPr lang="es-MX" dirty="0">
                <a:solidFill>
                  <a:schemeClr val="bg1"/>
                </a:solidFill>
                <a:latin typeface="Arial" panose="020B0604020202020204" pitchFamily="34" charset="0"/>
                <a:cs typeface="Arial" panose="020B0604020202020204" pitchFamily="34" charset="0"/>
              </a:rPr>
            </a:br>
            <a:r>
              <a:rPr lang="es-MX" dirty="0">
                <a:solidFill>
                  <a:schemeClr val="bg1"/>
                </a:solidFill>
                <a:latin typeface="Arial" panose="020B0604020202020204" pitchFamily="34" charset="0"/>
                <a:cs typeface="Arial" panose="020B0604020202020204" pitchFamily="34" charset="0"/>
              </a:rPr>
              <a:t>Juan Esteban Cortes</a:t>
            </a:r>
            <a:endParaRPr lang="es-CO" dirty="0">
              <a:solidFill>
                <a:schemeClr val="bg1"/>
              </a:solidFill>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7FA5514F-E6E8-6AC9-972E-059C1E0207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6071" y="3843866"/>
            <a:ext cx="1991717" cy="194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187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20F2BC-EAED-8647-0933-92E5B04D2741}"/>
              </a:ext>
            </a:extLst>
          </p:cNvPr>
          <p:cNvSpPr>
            <a:spLocks noGrp="1"/>
          </p:cNvSpPr>
          <p:nvPr>
            <p:ph type="title"/>
          </p:nvPr>
        </p:nvSpPr>
        <p:spPr>
          <a:xfrm>
            <a:off x="1828800" y="1263486"/>
            <a:ext cx="8534400" cy="1507067"/>
          </a:xfrm>
        </p:spPr>
        <p:txBody>
          <a:bodyPr/>
          <a:lstStyle/>
          <a:p>
            <a:r>
              <a:rPr lang="es-CO" dirty="0">
                <a:latin typeface="Arial" panose="020B0604020202020204" pitchFamily="34" charset="0"/>
                <a:cs typeface="Arial" panose="020B0604020202020204" pitchFamily="34" charset="0"/>
              </a:rPr>
              <a:t>Definición:</a:t>
            </a:r>
          </a:p>
        </p:txBody>
      </p:sp>
      <p:sp>
        <p:nvSpPr>
          <p:cNvPr id="3" name="Marcador de contenido 2">
            <a:extLst>
              <a:ext uri="{FF2B5EF4-FFF2-40B4-BE49-F238E27FC236}">
                <a16:creationId xmlns:a16="http://schemas.microsoft.com/office/drawing/2014/main" id="{176B07E2-3DD5-614B-D782-3D170BA45407}"/>
              </a:ext>
            </a:extLst>
          </p:cNvPr>
          <p:cNvSpPr>
            <a:spLocks noGrp="1"/>
          </p:cNvSpPr>
          <p:nvPr>
            <p:ph idx="1"/>
          </p:nvPr>
        </p:nvSpPr>
        <p:spPr>
          <a:xfrm>
            <a:off x="1828800" y="2280139"/>
            <a:ext cx="8534400" cy="3615267"/>
          </a:xfrm>
        </p:spPr>
        <p:txBody>
          <a:bodyPr/>
          <a:lstStyle/>
          <a:p>
            <a:r>
              <a:rPr lang="es-MX" dirty="0">
                <a:solidFill>
                  <a:schemeClr val="bg1"/>
                </a:solidFill>
                <a:latin typeface="Arial" panose="020B0604020202020204" pitchFamily="34" charset="0"/>
                <a:cs typeface="Arial" panose="020B0604020202020204" pitchFamily="34" charset="0"/>
              </a:rPr>
              <a:t>Representa las principales entidades del sistema y su interacción para registrar, procesar y analizar los datos de consumo eléctrico, facilitando la generación de alertas, notificaciones y reportes que permiten al usuario monitorear y optimizar su uso de energía.</a:t>
            </a:r>
            <a:endParaRPr lang="es-CO"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9147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D89C9DB-D507-2611-3E92-8B46EB6F1D6A}"/>
              </a:ext>
            </a:extLst>
          </p:cNvPr>
          <p:cNvPicPr>
            <a:picLocks noChangeAspect="1"/>
          </p:cNvPicPr>
          <p:nvPr/>
        </p:nvPicPr>
        <p:blipFill>
          <a:blip r:embed="rId2"/>
          <a:stretch>
            <a:fillRect/>
          </a:stretch>
        </p:blipFill>
        <p:spPr>
          <a:xfrm>
            <a:off x="2604600" y="528232"/>
            <a:ext cx="6982799" cy="5801535"/>
          </a:xfrm>
          <a:prstGeom prst="rect">
            <a:avLst/>
          </a:prstGeom>
        </p:spPr>
      </p:pic>
    </p:spTree>
    <p:extLst>
      <p:ext uri="{BB962C8B-B14F-4D97-AF65-F5344CB8AC3E}">
        <p14:creationId xmlns:p14="http://schemas.microsoft.com/office/powerpoint/2010/main" val="168218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600DEAD-B878-15FD-2BED-8C0C119C3FFB}"/>
              </a:ext>
            </a:extLst>
          </p:cNvPr>
          <p:cNvPicPr>
            <a:picLocks noChangeAspect="1"/>
          </p:cNvPicPr>
          <p:nvPr/>
        </p:nvPicPr>
        <p:blipFill>
          <a:blip r:embed="rId2"/>
          <a:stretch>
            <a:fillRect/>
          </a:stretch>
        </p:blipFill>
        <p:spPr>
          <a:xfrm>
            <a:off x="2718916" y="452022"/>
            <a:ext cx="6754168" cy="5953956"/>
          </a:xfrm>
          <a:prstGeom prst="rect">
            <a:avLst/>
          </a:prstGeom>
        </p:spPr>
      </p:pic>
    </p:spTree>
    <p:extLst>
      <p:ext uri="{BB962C8B-B14F-4D97-AF65-F5344CB8AC3E}">
        <p14:creationId xmlns:p14="http://schemas.microsoft.com/office/powerpoint/2010/main" val="3330069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7F5E01-CA37-93B8-F9BD-01E0988A49DB}"/>
              </a:ext>
            </a:extLst>
          </p:cNvPr>
          <p:cNvSpPr>
            <a:spLocks noGrp="1"/>
          </p:cNvSpPr>
          <p:nvPr>
            <p:ph type="title"/>
          </p:nvPr>
        </p:nvSpPr>
        <p:spPr>
          <a:xfrm>
            <a:off x="2203937" y="509303"/>
            <a:ext cx="7784124" cy="1366390"/>
          </a:xfrm>
        </p:spPr>
        <p:txBody>
          <a:bodyPr/>
          <a:lstStyle/>
          <a:p>
            <a:r>
              <a:rPr lang="es-MX" dirty="0">
                <a:latin typeface="Arial" panose="020B0604020202020204" pitchFamily="34" charset="0"/>
                <a:cs typeface="Arial" panose="020B0604020202020204" pitchFamily="34" charset="0"/>
              </a:rPr>
              <a:t>Elementos Clave:</a:t>
            </a:r>
            <a:endParaRPr lang="es-CO" dirty="0">
              <a:latin typeface="Arial" panose="020B0604020202020204" pitchFamily="34" charset="0"/>
              <a:cs typeface="Arial" panose="020B0604020202020204" pitchFamily="34" charset="0"/>
            </a:endParaRPr>
          </a:p>
        </p:txBody>
      </p:sp>
      <p:sp>
        <p:nvSpPr>
          <p:cNvPr id="6" name="Marcador de contenido 5">
            <a:extLst>
              <a:ext uri="{FF2B5EF4-FFF2-40B4-BE49-F238E27FC236}">
                <a16:creationId xmlns:a16="http://schemas.microsoft.com/office/drawing/2014/main" id="{65BCF5DE-7435-14AA-5C69-F53E267826DF}"/>
              </a:ext>
            </a:extLst>
          </p:cNvPr>
          <p:cNvSpPr>
            <a:spLocks noGrp="1"/>
          </p:cNvSpPr>
          <p:nvPr>
            <p:ph idx="1"/>
          </p:nvPr>
        </p:nvSpPr>
        <p:spPr>
          <a:xfrm>
            <a:off x="1104900" y="1781908"/>
            <a:ext cx="10196146" cy="4314092"/>
          </a:xfrm>
        </p:spPr>
        <p:txBody>
          <a:bodyPr>
            <a:normAutofit fontScale="77500" lnSpcReduction="20000"/>
          </a:bodyPr>
          <a:lstStyle/>
          <a:p>
            <a:r>
              <a:rPr lang="es-MX" sz="2300" b="1" dirty="0">
                <a:solidFill>
                  <a:schemeClr val="bg1"/>
                </a:solidFill>
                <a:latin typeface="Arial" panose="020B0604020202020204" pitchFamily="34" charset="0"/>
                <a:cs typeface="Arial" panose="020B0604020202020204" pitchFamily="34" charset="0"/>
              </a:rPr>
              <a:t>1. Usuario</a:t>
            </a:r>
            <a:br>
              <a:rPr lang="es-MX" sz="2300" dirty="0">
                <a:solidFill>
                  <a:schemeClr val="bg1"/>
                </a:solidFill>
                <a:latin typeface="Arial" panose="020B0604020202020204" pitchFamily="34" charset="0"/>
                <a:cs typeface="Arial" panose="020B0604020202020204" pitchFamily="34" charset="0"/>
              </a:rPr>
            </a:br>
            <a:r>
              <a:rPr lang="es-MX" sz="2300" dirty="0">
                <a:solidFill>
                  <a:schemeClr val="bg1"/>
                </a:solidFill>
                <a:latin typeface="Arial" panose="020B0604020202020204" pitchFamily="34" charset="0"/>
                <a:cs typeface="Arial" panose="020B0604020202020204" pitchFamily="34" charset="0"/>
              </a:rPr>
              <a:t>Representa a la persona que utiliza el sistema. Permite gestionar la información personal y el acceso al sistema para realizar seguimiento de su consumo energético, dispositivos y notificaciones.</a:t>
            </a:r>
          </a:p>
          <a:p>
            <a:r>
              <a:rPr lang="es-MX" sz="2300" b="1" dirty="0">
                <a:solidFill>
                  <a:schemeClr val="bg1"/>
                </a:solidFill>
                <a:latin typeface="Arial" panose="020B0604020202020204" pitchFamily="34" charset="0"/>
                <a:cs typeface="Arial" panose="020B0604020202020204" pitchFamily="34" charset="0"/>
              </a:rPr>
              <a:t>2. ConfiguraciónUsuario</a:t>
            </a:r>
            <a:br>
              <a:rPr lang="es-MX" sz="2300" dirty="0">
                <a:solidFill>
                  <a:schemeClr val="bg1"/>
                </a:solidFill>
                <a:latin typeface="Arial" panose="020B0604020202020204" pitchFamily="34" charset="0"/>
                <a:cs typeface="Arial" panose="020B0604020202020204" pitchFamily="34" charset="0"/>
              </a:rPr>
            </a:br>
            <a:r>
              <a:rPr lang="es-MX" sz="2300" dirty="0">
                <a:solidFill>
                  <a:schemeClr val="bg1"/>
                </a:solidFill>
                <a:latin typeface="Arial" panose="020B0604020202020204" pitchFamily="34" charset="0"/>
                <a:cs typeface="Arial" panose="020B0604020202020204" pitchFamily="34" charset="0"/>
              </a:rPr>
              <a:t>Define las preferencias y límites personalizados del usuario, como restricciones de consumo y activación de notificaciones, adaptando el sistema a sus necesidades.</a:t>
            </a:r>
          </a:p>
          <a:p>
            <a:r>
              <a:rPr lang="es-MX" sz="2300" b="1" dirty="0">
                <a:solidFill>
                  <a:schemeClr val="bg1"/>
                </a:solidFill>
                <a:latin typeface="Arial" panose="020B0604020202020204" pitchFamily="34" charset="0"/>
                <a:cs typeface="Arial" panose="020B0604020202020204" pitchFamily="34" charset="0"/>
              </a:rPr>
              <a:t>3. Dispositivo</a:t>
            </a:r>
            <a:br>
              <a:rPr lang="es-MX" sz="2300" dirty="0">
                <a:solidFill>
                  <a:schemeClr val="bg1"/>
                </a:solidFill>
                <a:latin typeface="Arial" panose="020B0604020202020204" pitchFamily="34" charset="0"/>
                <a:cs typeface="Arial" panose="020B0604020202020204" pitchFamily="34" charset="0"/>
              </a:rPr>
            </a:br>
            <a:r>
              <a:rPr lang="es-MX" sz="2300" dirty="0">
                <a:solidFill>
                  <a:schemeClr val="bg1"/>
                </a:solidFill>
                <a:latin typeface="Arial" panose="020B0604020202020204" pitchFamily="34" charset="0"/>
                <a:cs typeface="Arial" panose="020B0604020202020204" pitchFamily="34" charset="0"/>
              </a:rPr>
              <a:t>Representa los aparatos o medidores conectados al sistema. Su función es registrar datos de consumo energético y transmitir mediciones al sistema.</a:t>
            </a:r>
          </a:p>
          <a:p>
            <a:r>
              <a:rPr lang="es-MX" sz="2300" b="1" dirty="0">
                <a:solidFill>
                  <a:schemeClr val="bg1"/>
                </a:solidFill>
                <a:latin typeface="Arial" panose="020B0604020202020204" pitchFamily="34" charset="0"/>
                <a:cs typeface="Arial" panose="020B0604020202020204" pitchFamily="34" charset="0"/>
              </a:rPr>
              <a:t>4. Medición</a:t>
            </a:r>
            <a:br>
              <a:rPr lang="es-MX" sz="2300" dirty="0">
                <a:solidFill>
                  <a:schemeClr val="bg1"/>
                </a:solidFill>
                <a:latin typeface="Arial" panose="020B0604020202020204" pitchFamily="34" charset="0"/>
                <a:cs typeface="Arial" panose="020B0604020202020204" pitchFamily="34" charset="0"/>
              </a:rPr>
            </a:br>
            <a:r>
              <a:rPr lang="es-MX" sz="2300" dirty="0">
                <a:solidFill>
                  <a:schemeClr val="bg1"/>
                </a:solidFill>
                <a:latin typeface="Arial" panose="020B0604020202020204" pitchFamily="34" charset="0"/>
                <a:cs typeface="Arial" panose="020B0604020202020204" pitchFamily="34" charset="0"/>
              </a:rPr>
              <a:t>Registra las lecturas de consumo energético obtenidas por los dispositivos, incluyendo valores eléctricos relevantes que permiten analizar el uso de energía.</a:t>
            </a:r>
          </a:p>
          <a:p>
            <a:r>
              <a:rPr lang="es-MX" sz="2300" b="1" dirty="0">
                <a:solidFill>
                  <a:schemeClr val="bg1"/>
                </a:solidFill>
                <a:latin typeface="Arial" panose="020B0604020202020204" pitchFamily="34" charset="0"/>
                <a:cs typeface="Arial" panose="020B0604020202020204" pitchFamily="34" charset="0"/>
              </a:rPr>
              <a:t>5. Alerta</a:t>
            </a:r>
            <a:br>
              <a:rPr lang="es-MX" sz="2300" dirty="0">
                <a:solidFill>
                  <a:schemeClr val="bg1"/>
                </a:solidFill>
                <a:latin typeface="Arial" panose="020B0604020202020204" pitchFamily="34" charset="0"/>
                <a:cs typeface="Arial" panose="020B0604020202020204" pitchFamily="34" charset="0"/>
              </a:rPr>
            </a:br>
            <a:r>
              <a:rPr lang="es-MX" sz="2300" dirty="0">
                <a:solidFill>
                  <a:schemeClr val="bg1"/>
                </a:solidFill>
                <a:latin typeface="Arial" panose="020B0604020202020204" pitchFamily="34" charset="0"/>
                <a:cs typeface="Arial" panose="020B0604020202020204" pitchFamily="34" charset="0"/>
              </a:rPr>
              <a:t>Informa al usuario sobre eventos importantes o anómalos detectados en las mediciones, como excesos de consumo o fallos en los dispositivos.</a:t>
            </a:r>
          </a:p>
          <a:p>
            <a:endParaRPr lang="es-CO" dirty="0"/>
          </a:p>
        </p:txBody>
      </p:sp>
    </p:spTree>
    <p:extLst>
      <p:ext uri="{BB962C8B-B14F-4D97-AF65-F5344CB8AC3E}">
        <p14:creationId xmlns:p14="http://schemas.microsoft.com/office/powerpoint/2010/main" val="905585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B7D643-5CED-E68B-A787-882305E3003A}"/>
              </a:ext>
            </a:extLst>
          </p:cNvPr>
          <p:cNvSpPr txBox="1"/>
          <p:nvPr/>
        </p:nvSpPr>
        <p:spPr>
          <a:xfrm>
            <a:off x="1136072" y="1382286"/>
            <a:ext cx="9919855" cy="4093428"/>
          </a:xfrm>
          <a:prstGeom prst="rect">
            <a:avLst/>
          </a:prstGeom>
          <a:noFill/>
        </p:spPr>
        <p:txBody>
          <a:bodyPr wrap="square">
            <a:spAutoFit/>
          </a:bodyPr>
          <a:lstStyle/>
          <a:p>
            <a:r>
              <a:rPr lang="es-MX" sz="2000" b="1" dirty="0">
                <a:solidFill>
                  <a:schemeClr val="bg1"/>
                </a:solidFill>
                <a:latin typeface="Arial" panose="020B0604020202020204" pitchFamily="34" charset="0"/>
                <a:cs typeface="Arial" panose="020B0604020202020204" pitchFamily="34" charset="0"/>
              </a:rPr>
              <a:t>6. </a:t>
            </a:r>
            <a:r>
              <a:rPr lang="es-MX" sz="2000" b="1" dirty="0" err="1">
                <a:solidFill>
                  <a:schemeClr val="bg1"/>
                </a:solidFill>
                <a:latin typeface="Arial" panose="020B0604020202020204" pitchFamily="34" charset="0"/>
                <a:cs typeface="Arial" panose="020B0604020202020204" pitchFamily="34" charset="0"/>
              </a:rPr>
              <a:t>NivelConsumo</a:t>
            </a:r>
            <a:br>
              <a:rPr lang="es-MX" sz="2000" dirty="0">
                <a:solidFill>
                  <a:schemeClr val="bg1"/>
                </a:solidFill>
                <a:latin typeface="Arial" panose="020B0604020202020204" pitchFamily="34" charset="0"/>
                <a:cs typeface="Arial" panose="020B0604020202020204" pitchFamily="34" charset="0"/>
              </a:rPr>
            </a:br>
            <a:r>
              <a:rPr lang="es-MX" sz="2000" dirty="0">
                <a:solidFill>
                  <a:schemeClr val="bg1"/>
                </a:solidFill>
                <a:latin typeface="Arial" panose="020B0604020202020204" pitchFamily="34" charset="0"/>
                <a:cs typeface="Arial" panose="020B0604020202020204" pitchFamily="34" charset="0"/>
              </a:rPr>
              <a:t>Clasifica el consumo energético en diferentes rangos o niveles (por ejemplo, bajo, medio o alto) para facilitar el análisis y la interpretación de los datos.</a:t>
            </a:r>
          </a:p>
          <a:p>
            <a:r>
              <a:rPr lang="es-MX" sz="2000" b="1" dirty="0">
                <a:solidFill>
                  <a:schemeClr val="bg1"/>
                </a:solidFill>
                <a:latin typeface="Arial" panose="020B0604020202020204" pitchFamily="34" charset="0"/>
                <a:cs typeface="Arial" panose="020B0604020202020204" pitchFamily="34" charset="0"/>
              </a:rPr>
              <a:t>7. </a:t>
            </a:r>
            <a:r>
              <a:rPr lang="es-MX" sz="2000" b="1" dirty="0" err="1">
                <a:solidFill>
                  <a:schemeClr val="bg1"/>
                </a:solidFill>
                <a:latin typeface="Arial" panose="020B0604020202020204" pitchFamily="34" charset="0"/>
                <a:cs typeface="Arial" panose="020B0604020202020204" pitchFamily="34" charset="0"/>
              </a:rPr>
              <a:t>HistorialDeConsumo</a:t>
            </a:r>
            <a:br>
              <a:rPr lang="es-MX" sz="2000" dirty="0">
                <a:solidFill>
                  <a:schemeClr val="bg1"/>
                </a:solidFill>
                <a:latin typeface="Arial" panose="020B0604020202020204" pitchFamily="34" charset="0"/>
                <a:cs typeface="Arial" panose="020B0604020202020204" pitchFamily="34" charset="0"/>
              </a:rPr>
            </a:br>
            <a:r>
              <a:rPr lang="es-MX" sz="2000" dirty="0">
                <a:solidFill>
                  <a:schemeClr val="bg1"/>
                </a:solidFill>
                <a:latin typeface="Arial" panose="020B0604020202020204" pitchFamily="34" charset="0"/>
                <a:cs typeface="Arial" panose="020B0604020202020204" pitchFamily="34" charset="0"/>
              </a:rPr>
              <a:t>Almacena los registros históricos del consumo de energía del usuario en diferentes periodos de tiempo, permitiendo visualizar tendencias y patrones.</a:t>
            </a:r>
          </a:p>
          <a:p>
            <a:r>
              <a:rPr lang="es-MX" sz="2000" b="1" dirty="0">
                <a:solidFill>
                  <a:schemeClr val="bg1"/>
                </a:solidFill>
                <a:latin typeface="Arial" panose="020B0604020202020204" pitchFamily="34" charset="0"/>
                <a:cs typeface="Arial" panose="020B0604020202020204" pitchFamily="34" charset="0"/>
              </a:rPr>
              <a:t>8. Notificación</a:t>
            </a:r>
            <a:br>
              <a:rPr lang="es-MX" sz="2000" dirty="0">
                <a:solidFill>
                  <a:schemeClr val="bg1"/>
                </a:solidFill>
                <a:latin typeface="Arial" panose="020B0604020202020204" pitchFamily="34" charset="0"/>
                <a:cs typeface="Arial" panose="020B0604020202020204" pitchFamily="34" charset="0"/>
              </a:rPr>
            </a:br>
            <a:r>
              <a:rPr lang="es-MX" sz="2000" dirty="0">
                <a:solidFill>
                  <a:schemeClr val="bg1"/>
                </a:solidFill>
                <a:latin typeface="Arial" panose="020B0604020202020204" pitchFamily="34" charset="0"/>
                <a:cs typeface="Arial" panose="020B0604020202020204" pitchFamily="34" charset="0"/>
              </a:rPr>
              <a:t>Envía mensajes al usuario con distintos propósitos, como alertas, recomendaciones o información general, para mantenerlo informado sobre su consumo o el estado del sistema.</a:t>
            </a:r>
          </a:p>
          <a:p>
            <a:r>
              <a:rPr lang="es-MX" sz="2000" b="1" dirty="0">
                <a:solidFill>
                  <a:schemeClr val="bg1"/>
                </a:solidFill>
                <a:latin typeface="Arial" panose="020B0604020202020204" pitchFamily="34" charset="0"/>
                <a:cs typeface="Arial" panose="020B0604020202020204" pitchFamily="34" charset="0"/>
              </a:rPr>
              <a:t>9. Recomendación</a:t>
            </a:r>
            <a:br>
              <a:rPr lang="es-MX" sz="2000" dirty="0">
                <a:solidFill>
                  <a:schemeClr val="bg1"/>
                </a:solidFill>
                <a:latin typeface="Arial" panose="020B0604020202020204" pitchFamily="34" charset="0"/>
                <a:cs typeface="Arial" panose="020B0604020202020204" pitchFamily="34" charset="0"/>
              </a:rPr>
            </a:br>
            <a:r>
              <a:rPr lang="es-MX" sz="2000" dirty="0">
                <a:solidFill>
                  <a:schemeClr val="bg1"/>
                </a:solidFill>
                <a:latin typeface="Arial" panose="020B0604020202020204" pitchFamily="34" charset="0"/>
                <a:cs typeface="Arial" panose="020B0604020202020204" pitchFamily="34" charset="0"/>
              </a:rPr>
              <a:t>Proporciona sugerencias personalizadas para mejorar el uso de energía, ya sea enfocadas en ahorro, mantenimiento o eficiencia.</a:t>
            </a:r>
          </a:p>
        </p:txBody>
      </p:sp>
    </p:spTree>
    <p:extLst>
      <p:ext uri="{BB962C8B-B14F-4D97-AF65-F5344CB8AC3E}">
        <p14:creationId xmlns:p14="http://schemas.microsoft.com/office/powerpoint/2010/main" val="559594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878A4F-0CAD-0214-D061-5B0B22B1B9D1}"/>
              </a:ext>
            </a:extLst>
          </p:cNvPr>
          <p:cNvSpPr>
            <a:spLocks noGrp="1"/>
          </p:cNvSpPr>
          <p:nvPr>
            <p:ph type="title"/>
          </p:nvPr>
        </p:nvSpPr>
        <p:spPr>
          <a:xfrm>
            <a:off x="1828799" y="588985"/>
            <a:ext cx="8534400" cy="1507067"/>
          </a:xfrm>
        </p:spPr>
        <p:txBody>
          <a:bodyPr/>
          <a:lstStyle/>
          <a:p>
            <a:r>
              <a:rPr lang="es-MX" dirty="0"/>
              <a:t>Propósito:</a:t>
            </a:r>
            <a:endParaRPr lang="es-CO" dirty="0"/>
          </a:p>
        </p:txBody>
      </p:sp>
      <p:sp>
        <p:nvSpPr>
          <p:cNvPr id="4" name="Rectangle 1">
            <a:extLst>
              <a:ext uri="{FF2B5EF4-FFF2-40B4-BE49-F238E27FC236}">
                <a16:creationId xmlns:a16="http://schemas.microsoft.com/office/drawing/2014/main" id="{7307DF67-B212-23A8-A98E-1E2D40C012DE}"/>
              </a:ext>
            </a:extLst>
          </p:cNvPr>
          <p:cNvSpPr>
            <a:spLocks noGrp="1" noChangeArrowheads="1"/>
          </p:cNvSpPr>
          <p:nvPr>
            <p:ph idx="1"/>
          </p:nvPr>
        </p:nvSpPr>
        <p:spPr bwMode="auto">
          <a:xfrm>
            <a:off x="1711013" y="2613392"/>
            <a:ext cx="876997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MX" sz="2000" dirty="0">
                <a:solidFill>
                  <a:schemeClr val="bg1"/>
                </a:solidFill>
                <a:latin typeface="Arial" panose="020B0604020202020204" pitchFamily="34" charset="0"/>
                <a:cs typeface="Arial" panose="020B0604020202020204" pitchFamily="34" charset="0"/>
              </a:rPr>
              <a:t>Modelar la estructura conceptual del sistema antes de su implementación, identificando el flujo de información desde la captura de las mediciones hasta la generación de reportes. Este modelo sirve como base para el diseño de la base de datos y la definición de las clases que conformarán el software.</a:t>
            </a:r>
            <a:endParaRPr kumimoji="0" lang="es-CO" altLang="es-CO" sz="20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5595543"/>
      </p:ext>
    </p:extLst>
  </p:cSld>
  <p:clrMapOvr>
    <a:masterClrMapping/>
  </p:clrMapOvr>
</p:sld>
</file>

<file path=ppt/theme/theme1.xml><?xml version="1.0" encoding="utf-8"?>
<a:theme xmlns:a="http://schemas.openxmlformats.org/drawingml/2006/main" name="Sector">
  <a:themeElements>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69</TotalTime>
  <Words>382</Words>
  <Application>Microsoft Office PowerPoint</Application>
  <PresentationFormat>Panorámica</PresentationFormat>
  <Paragraphs>17</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Century Gothic</vt:lpstr>
      <vt:lpstr>Wingdings 3</vt:lpstr>
      <vt:lpstr>Sector</vt:lpstr>
      <vt:lpstr>Diagrama de Dominio — Sistema de Monitoreo de Consumo Eléctrico</vt:lpstr>
      <vt:lpstr>Definición:</vt:lpstr>
      <vt:lpstr>Presentación de PowerPoint</vt:lpstr>
      <vt:lpstr>Presentación de PowerPoint</vt:lpstr>
      <vt:lpstr>Elementos Clave:</vt:lpstr>
      <vt:lpstr>Presentación de PowerPoint</vt:lpstr>
      <vt:lpstr>Propósito: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Tuabuela 77</dc:creator>
  <cp:lastModifiedBy>Tuabuela 77</cp:lastModifiedBy>
  <cp:revision>2</cp:revision>
  <dcterms:created xsi:type="dcterms:W3CDTF">2025-11-02T16:19:46Z</dcterms:created>
  <dcterms:modified xsi:type="dcterms:W3CDTF">2025-11-04T20:15:05Z</dcterms:modified>
</cp:coreProperties>
</file>